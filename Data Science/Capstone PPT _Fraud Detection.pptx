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23"/>
  </p:notesMasterIdLst>
  <p:sldIdLst>
    <p:sldId id="256" r:id="rId2"/>
    <p:sldId id="714" r:id="rId3"/>
    <p:sldId id="715" r:id="rId4"/>
    <p:sldId id="716" r:id="rId5"/>
    <p:sldId id="717" r:id="rId6"/>
    <p:sldId id="718" r:id="rId7"/>
    <p:sldId id="719" r:id="rId8"/>
    <p:sldId id="720" r:id="rId9"/>
    <p:sldId id="721" r:id="rId10"/>
    <p:sldId id="722" r:id="rId11"/>
    <p:sldId id="724" r:id="rId12"/>
    <p:sldId id="723" r:id="rId13"/>
    <p:sldId id="725" r:id="rId14"/>
    <p:sldId id="726" r:id="rId15"/>
    <p:sldId id="727" r:id="rId16"/>
    <p:sldId id="728" r:id="rId17"/>
    <p:sldId id="729" r:id="rId18"/>
    <p:sldId id="730" r:id="rId19"/>
    <p:sldId id="731" r:id="rId20"/>
    <p:sldId id="711" r:id="rId21"/>
    <p:sldId id="30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1" autoAdjust="0"/>
    <p:restoredTop sz="93447" autoAdjust="0"/>
  </p:normalViewPr>
  <p:slideViewPr>
    <p:cSldViewPr snapToGrid="0">
      <p:cViewPr varScale="1">
        <p:scale>
          <a:sx n="64" d="100"/>
          <a:sy n="64" d="100"/>
        </p:scale>
        <p:origin x="882" y="66"/>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20-02-2026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Fraud Detection Using Machine Learning</a:t>
            </a:r>
            <a:br>
              <a:rPr lang="en-US" sz="4400" dirty="0"/>
            </a:br>
            <a:r>
              <a:rPr lang="en-US" sz="2400" dirty="0"/>
              <a:t>Behavior-Based Risk Modeling &amp; Financial Impact Analysis</a:t>
            </a:r>
          </a:p>
          <a:p>
            <a:pPr algn="ctr"/>
            <a:r>
              <a:rPr lang="en-US" sz="2400" dirty="0"/>
              <a:t>Tools Used: Python (</a:t>
            </a:r>
            <a:r>
              <a:rPr lang="en-US" sz="2400" dirty="0" err="1"/>
              <a:t>Jupyter</a:t>
            </a:r>
            <a:r>
              <a:rPr lang="en-US" sz="2400" dirty="0"/>
              <a:t>), </a:t>
            </a:r>
            <a:r>
              <a:rPr lang="en-US" sz="2400" dirty="0" err="1"/>
              <a:t>XGBoost</a:t>
            </a:r>
            <a:r>
              <a:rPr lang="en-US" sz="2400" dirty="0"/>
              <a:t>, </a:t>
            </a:r>
            <a:r>
              <a:rPr lang="en-US" sz="2400" dirty="0" err="1"/>
              <a:t>Streamlit</a:t>
            </a:r>
            <a:r>
              <a:rPr lang="en-US" sz="2400" dirty="0"/>
              <a:t>, Power BI</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r>
              <a:rPr lang="en-US" dirty="0"/>
              <a:t>Agenda</a:t>
            </a:r>
            <a:endParaRPr lang="en-IN" dirty="0"/>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p:txBody>
          <a:bodyPr/>
          <a:lstStyle/>
          <a:p>
            <a:r>
              <a:rPr lang="en-US" dirty="0"/>
              <a:t>Digital financial fraud leads to significant monetary losses.</a:t>
            </a:r>
          </a:p>
          <a:p>
            <a:pPr lvl="1"/>
            <a:r>
              <a:rPr lang="en-US" dirty="0"/>
              <a:t>Challenges:</a:t>
            </a:r>
          </a:p>
          <a:p>
            <a:pPr lvl="2"/>
            <a:r>
              <a:rPr lang="en-US" dirty="0"/>
              <a:t>Fraud cases are rare but high impact.</a:t>
            </a:r>
          </a:p>
          <a:p>
            <a:pPr lvl="2"/>
            <a:r>
              <a:rPr lang="en-US" dirty="0"/>
              <a:t>Fraud patterns change over time.</a:t>
            </a:r>
          </a:p>
          <a:p>
            <a:pPr lvl="2"/>
            <a:r>
              <a:rPr lang="en-US" dirty="0"/>
              <a:t>Manual review increases operational cost.</a:t>
            </a:r>
          </a:p>
          <a:p>
            <a:r>
              <a:rPr lang="en-US" dirty="0"/>
              <a:t>Objective:</a:t>
            </a:r>
            <a:br>
              <a:rPr lang="en-US" dirty="0"/>
            </a:br>
            <a:r>
              <a:rPr lang="en-US" dirty="0"/>
              <a:t>Build a machine learning model to detect fraud accurately and reduce financial losses.</a:t>
            </a:r>
          </a:p>
          <a:p>
            <a:endParaRPr lang="en-IN" dirty="0"/>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E8707-17DC-0046-9331-B44BDCA72E5C}"/>
              </a:ext>
            </a:extLst>
          </p:cNvPr>
          <p:cNvSpPr>
            <a:spLocks noGrp="1"/>
          </p:cNvSpPr>
          <p:nvPr>
            <p:ph type="title"/>
          </p:nvPr>
        </p:nvSpPr>
        <p:spPr>
          <a:xfrm>
            <a:off x="678883" y="451419"/>
            <a:ext cx="10834234" cy="612775"/>
          </a:xfrm>
        </p:spPr>
        <p:txBody>
          <a:bodyPr/>
          <a:lstStyle/>
          <a:p>
            <a:r>
              <a:rPr lang="en-US" dirty="0"/>
              <a:t>Dataset Overview</a:t>
            </a:r>
          </a:p>
        </p:txBody>
      </p:sp>
      <p:sp>
        <p:nvSpPr>
          <p:cNvPr id="3" name="Content Placeholder 2">
            <a:extLst>
              <a:ext uri="{FF2B5EF4-FFF2-40B4-BE49-F238E27FC236}">
                <a16:creationId xmlns:a16="http://schemas.microsoft.com/office/drawing/2014/main" id="{46FC6E9D-A77E-DE74-D2B6-107BFBE8F2F1}"/>
              </a:ext>
            </a:extLst>
          </p:cNvPr>
          <p:cNvSpPr>
            <a:spLocks noGrp="1"/>
          </p:cNvSpPr>
          <p:nvPr>
            <p:ph idx="1"/>
          </p:nvPr>
        </p:nvSpPr>
        <p:spPr>
          <a:xfrm>
            <a:off x="601434" y="1064194"/>
            <a:ext cx="10834234" cy="4398066"/>
          </a:xfrm>
        </p:spPr>
        <p:txBody>
          <a:bodyPr/>
          <a:lstStyle/>
          <a:p>
            <a:r>
              <a:rPr lang="en-US" dirty="0"/>
              <a:t>The dataset contains:</a:t>
            </a:r>
          </a:p>
          <a:p>
            <a:pPr lvl="2"/>
            <a:r>
              <a:rPr lang="en-US" dirty="0"/>
              <a:t>Transaction type (CASH_IN, TRANSFER, etc.)</a:t>
            </a:r>
          </a:p>
          <a:p>
            <a:pPr lvl="2"/>
            <a:r>
              <a:rPr lang="en-US" dirty="0"/>
              <a:t>Transaction amount</a:t>
            </a:r>
          </a:p>
          <a:p>
            <a:pPr lvl="2"/>
            <a:r>
              <a:rPr lang="en-US" dirty="0"/>
              <a:t>Old and new account balances</a:t>
            </a:r>
          </a:p>
          <a:p>
            <a:pPr lvl="2"/>
            <a:r>
              <a:rPr lang="en-US" dirty="0"/>
              <a:t>Fraud label (0 = Legitimate, 1 = Fraud)</a:t>
            </a:r>
          </a:p>
          <a:p>
            <a:r>
              <a:rPr lang="en-US" dirty="0"/>
              <a:t>The dataset is highly imbalanced, with very few fraud cases compared to legitimate transactions.</a:t>
            </a:r>
          </a:p>
          <a:p>
            <a:endParaRPr lang="en-US" dirty="0"/>
          </a:p>
        </p:txBody>
      </p:sp>
      <p:pic>
        <p:nvPicPr>
          <p:cNvPr id="5" name="Picture 4">
            <a:extLst>
              <a:ext uri="{FF2B5EF4-FFF2-40B4-BE49-F238E27FC236}">
                <a16:creationId xmlns:a16="http://schemas.microsoft.com/office/drawing/2014/main" id="{FD72F0D6-5B63-684E-E532-3A95665FA3D8}"/>
              </a:ext>
            </a:extLst>
          </p:cNvPr>
          <p:cNvPicPr>
            <a:picLocks noChangeAspect="1"/>
          </p:cNvPicPr>
          <p:nvPr/>
        </p:nvPicPr>
        <p:blipFill>
          <a:blip r:embed="rId2"/>
          <a:stretch>
            <a:fillRect/>
          </a:stretch>
        </p:blipFill>
        <p:spPr>
          <a:xfrm>
            <a:off x="989351" y="3702570"/>
            <a:ext cx="10058400" cy="2370571"/>
          </a:xfrm>
          <a:prstGeom prst="rect">
            <a:avLst/>
          </a:prstGeom>
          <a:ln>
            <a:solidFill>
              <a:schemeClr val="tx1"/>
            </a:solidFill>
          </a:ln>
        </p:spPr>
      </p:pic>
    </p:spTree>
    <p:extLst>
      <p:ext uri="{BB962C8B-B14F-4D97-AF65-F5344CB8AC3E}">
        <p14:creationId xmlns:p14="http://schemas.microsoft.com/office/powerpoint/2010/main" val="1130166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262B2-F275-1043-2A22-0FF809B71331}"/>
              </a:ext>
            </a:extLst>
          </p:cNvPr>
          <p:cNvSpPr>
            <a:spLocks noGrp="1"/>
          </p:cNvSpPr>
          <p:nvPr>
            <p:ph type="title"/>
          </p:nvPr>
        </p:nvSpPr>
        <p:spPr/>
        <p:txBody>
          <a:bodyPr/>
          <a:lstStyle/>
          <a:p>
            <a:r>
              <a:rPr lang="en-US" dirty="0"/>
              <a:t>Exploratory Data Analysis</a:t>
            </a:r>
          </a:p>
        </p:txBody>
      </p:sp>
      <p:sp>
        <p:nvSpPr>
          <p:cNvPr id="3" name="Content Placeholder 2">
            <a:extLst>
              <a:ext uri="{FF2B5EF4-FFF2-40B4-BE49-F238E27FC236}">
                <a16:creationId xmlns:a16="http://schemas.microsoft.com/office/drawing/2014/main" id="{E612887E-6003-D218-7280-F63CFE5078A6}"/>
              </a:ext>
            </a:extLst>
          </p:cNvPr>
          <p:cNvSpPr>
            <a:spLocks noGrp="1"/>
          </p:cNvSpPr>
          <p:nvPr>
            <p:ph idx="1"/>
          </p:nvPr>
        </p:nvSpPr>
        <p:spPr>
          <a:xfrm>
            <a:off x="726689" y="1216441"/>
            <a:ext cx="7190952" cy="4398066"/>
          </a:xfrm>
        </p:spPr>
        <p:txBody>
          <a:bodyPr/>
          <a:lstStyle/>
          <a:p>
            <a:r>
              <a:rPr lang="en-US" dirty="0"/>
              <a:t>Key Insights:</a:t>
            </a:r>
          </a:p>
          <a:p>
            <a:pPr lvl="2"/>
            <a:r>
              <a:rPr lang="en-US" dirty="0"/>
              <a:t>Fraud mostly occurs in TRANSFER and CASH_OUT transactions.</a:t>
            </a:r>
          </a:p>
          <a:p>
            <a:pPr lvl="2"/>
            <a:r>
              <a:rPr lang="en-US" dirty="0"/>
              <a:t>Fraud transactions often drain a large percentage of account balance.</a:t>
            </a:r>
          </a:p>
          <a:p>
            <a:pPr lvl="2"/>
            <a:r>
              <a:rPr lang="en-US" dirty="0"/>
              <a:t>Higher transaction velocity increases fraud probability.</a:t>
            </a:r>
          </a:p>
          <a:p>
            <a:pPr lvl="2"/>
            <a:r>
              <a:rPr lang="en-US" dirty="0"/>
              <a:t>Large amount-to-balance ratio is a strong fraud indicator.</a:t>
            </a:r>
          </a:p>
          <a:p>
            <a:endParaRPr lang="en-US" dirty="0"/>
          </a:p>
        </p:txBody>
      </p:sp>
      <p:pic>
        <p:nvPicPr>
          <p:cNvPr id="5" name="Picture 4">
            <a:extLst>
              <a:ext uri="{FF2B5EF4-FFF2-40B4-BE49-F238E27FC236}">
                <a16:creationId xmlns:a16="http://schemas.microsoft.com/office/drawing/2014/main" id="{6256FB6A-32CB-85E5-59F2-A90BB2337337}"/>
              </a:ext>
            </a:extLst>
          </p:cNvPr>
          <p:cNvPicPr>
            <a:picLocks noChangeAspect="1"/>
          </p:cNvPicPr>
          <p:nvPr/>
        </p:nvPicPr>
        <p:blipFill>
          <a:blip r:embed="rId2"/>
          <a:stretch>
            <a:fillRect/>
          </a:stretch>
        </p:blipFill>
        <p:spPr>
          <a:xfrm>
            <a:off x="7869836" y="1364105"/>
            <a:ext cx="3643280" cy="4512039"/>
          </a:xfrm>
          <a:prstGeom prst="rect">
            <a:avLst/>
          </a:prstGeom>
          <a:ln>
            <a:solidFill>
              <a:schemeClr val="tx1"/>
            </a:solidFill>
          </a:ln>
        </p:spPr>
      </p:pic>
      <p:pic>
        <p:nvPicPr>
          <p:cNvPr id="7" name="Picture 6">
            <a:extLst>
              <a:ext uri="{FF2B5EF4-FFF2-40B4-BE49-F238E27FC236}">
                <a16:creationId xmlns:a16="http://schemas.microsoft.com/office/drawing/2014/main" id="{D457C41D-7D81-BB18-7075-941C1B53CA51}"/>
              </a:ext>
            </a:extLst>
          </p:cNvPr>
          <p:cNvPicPr>
            <a:picLocks noChangeAspect="1"/>
          </p:cNvPicPr>
          <p:nvPr/>
        </p:nvPicPr>
        <p:blipFill>
          <a:blip r:embed="rId3"/>
          <a:stretch>
            <a:fillRect/>
          </a:stretch>
        </p:blipFill>
        <p:spPr>
          <a:xfrm>
            <a:off x="1755327" y="3620124"/>
            <a:ext cx="5814705" cy="2267369"/>
          </a:xfrm>
          <a:prstGeom prst="rect">
            <a:avLst/>
          </a:prstGeom>
          <a:ln>
            <a:solidFill>
              <a:schemeClr val="tx1"/>
            </a:solidFill>
          </a:ln>
        </p:spPr>
      </p:pic>
    </p:spTree>
    <p:extLst>
      <p:ext uri="{BB962C8B-B14F-4D97-AF65-F5344CB8AC3E}">
        <p14:creationId xmlns:p14="http://schemas.microsoft.com/office/powerpoint/2010/main" val="130803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34E05-9BB0-ADCC-2DA2-7DA27105303B}"/>
              </a:ext>
            </a:extLst>
          </p:cNvPr>
          <p:cNvSpPr>
            <a:spLocks noGrp="1"/>
          </p:cNvSpPr>
          <p:nvPr>
            <p:ph type="title"/>
          </p:nvPr>
        </p:nvSpPr>
        <p:spPr/>
        <p:txBody>
          <a:bodyPr/>
          <a:lstStyle/>
          <a:p>
            <a:r>
              <a:rPr lang="en-US" dirty="0"/>
              <a:t>Feature Engineering</a:t>
            </a:r>
          </a:p>
        </p:txBody>
      </p:sp>
      <p:sp>
        <p:nvSpPr>
          <p:cNvPr id="3" name="Content Placeholder 2">
            <a:extLst>
              <a:ext uri="{FF2B5EF4-FFF2-40B4-BE49-F238E27FC236}">
                <a16:creationId xmlns:a16="http://schemas.microsoft.com/office/drawing/2014/main" id="{0EDF8059-2BA6-631B-3149-05C2FD978E55}"/>
              </a:ext>
            </a:extLst>
          </p:cNvPr>
          <p:cNvSpPr>
            <a:spLocks noGrp="1"/>
          </p:cNvSpPr>
          <p:nvPr>
            <p:ph idx="1"/>
          </p:nvPr>
        </p:nvSpPr>
        <p:spPr>
          <a:xfrm>
            <a:off x="678883" y="1345292"/>
            <a:ext cx="10834234" cy="4398066"/>
          </a:xfrm>
        </p:spPr>
        <p:txBody>
          <a:bodyPr/>
          <a:lstStyle/>
          <a:p>
            <a:r>
              <a:rPr lang="en-US" dirty="0"/>
              <a:t>Created behavioral features:</a:t>
            </a:r>
          </a:p>
          <a:p>
            <a:pPr lvl="2"/>
            <a:r>
              <a:rPr lang="en-US" dirty="0"/>
              <a:t>Balance Drain Percentage</a:t>
            </a:r>
          </a:p>
          <a:p>
            <a:pPr lvl="2"/>
            <a:r>
              <a:rPr lang="en-US" dirty="0"/>
              <a:t>Transaction Velocity (1h / 24h)</a:t>
            </a:r>
          </a:p>
          <a:p>
            <a:pPr lvl="2"/>
            <a:r>
              <a:rPr lang="en-US" dirty="0"/>
              <a:t>Amount-to-Balance Ratio</a:t>
            </a:r>
          </a:p>
          <a:p>
            <a:pPr lvl="2"/>
            <a:r>
              <a:rPr lang="en-US" dirty="0"/>
              <a:t>Rapid Drain Flag</a:t>
            </a:r>
          </a:p>
          <a:p>
            <a:pPr lvl="2"/>
            <a:r>
              <a:rPr lang="en-US" dirty="0"/>
              <a:t>Risk Score (probability-based)</a:t>
            </a:r>
          </a:p>
          <a:p>
            <a:r>
              <a:rPr lang="en-US" dirty="0"/>
              <a:t>These features help the model understand fraud behavior patterns.</a:t>
            </a:r>
          </a:p>
          <a:p>
            <a:endParaRPr lang="en-US" dirty="0"/>
          </a:p>
        </p:txBody>
      </p:sp>
    </p:spTree>
    <p:extLst>
      <p:ext uri="{BB962C8B-B14F-4D97-AF65-F5344CB8AC3E}">
        <p14:creationId xmlns:p14="http://schemas.microsoft.com/office/powerpoint/2010/main" val="3136794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42E73-AF7A-E227-DA46-698971BFD6A0}"/>
              </a:ext>
            </a:extLst>
          </p:cNvPr>
          <p:cNvSpPr>
            <a:spLocks noGrp="1"/>
          </p:cNvSpPr>
          <p:nvPr>
            <p:ph type="title"/>
          </p:nvPr>
        </p:nvSpPr>
        <p:spPr/>
        <p:txBody>
          <a:bodyPr/>
          <a:lstStyle/>
          <a:p>
            <a:r>
              <a:rPr lang="en-US" dirty="0"/>
              <a:t>Model Selection</a:t>
            </a:r>
          </a:p>
        </p:txBody>
      </p:sp>
      <p:sp>
        <p:nvSpPr>
          <p:cNvPr id="3" name="Content Placeholder 2">
            <a:extLst>
              <a:ext uri="{FF2B5EF4-FFF2-40B4-BE49-F238E27FC236}">
                <a16:creationId xmlns:a16="http://schemas.microsoft.com/office/drawing/2014/main" id="{E837BB76-6C8F-2E85-851E-B62DC64F9671}"/>
              </a:ext>
            </a:extLst>
          </p:cNvPr>
          <p:cNvSpPr>
            <a:spLocks noGrp="1"/>
          </p:cNvSpPr>
          <p:nvPr>
            <p:ph idx="1"/>
          </p:nvPr>
        </p:nvSpPr>
        <p:spPr>
          <a:xfrm>
            <a:off x="558963" y="1216441"/>
            <a:ext cx="5537037" cy="4398066"/>
          </a:xfrm>
        </p:spPr>
        <p:txBody>
          <a:bodyPr/>
          <a:lstStyle/>
          <a:p>
            <a:r>
              <a:rPr lang="en-US" dirty="0"/>
              <a:t>Models Tested:</a:t>
            </a:r>
          </a:p>
          <a:p>
            <a:pPr lvl="1"/>
            <a:r>
              <a:rPr lang="en-US" dirty="0"/>
              <a:t>Logistic Regression</a:t>
            </a:r>
          </a:p>
          <a:p>
            <a:pPr lvl="1"/>
            <a:r>
              <a:rPr lang="en-US" dirty="0"/>
              <a:t>Random Forest</a:t>
            </a:r>
          </a:p>
          <a:p>
            <a:pPr lvl="1"/>
            <a:r>
              <a:rPr lang="en-US" dirty="0"/>
              <a:t>Gradient Boosting</a:t>
            </a:r>
          </a:p>
          <a:p>
            <a:pPr lvl="1"/>
            <a:r>
              <a:rPr lang="en-US" dirty="0" err="1"/>
              <a:t>XGBoost</a:t>
            </a:r>
            <a:endParaRPr lang="en-US" dirty="0"/>
          </a:p>
          <a:p>
            <a:r>
              <a:rPr lang="en-US" dirty="0" err="1"/>
              <a:t>XGBoost</a:t>
            </a:r>
            <a:r>
              <a:rPr lang="en-US" dirty="0"/>
              <a:t> delivered the best performance based on accuracy, precision, recall, and ROC-AUC.</a:t>
            </a:r>
          </a:p>
          <a:p>
            <a:endParaRPr lang="en-US" dirty="0"/>
          </a:p>
        </p:txBody>
      </p:sp>
      <p:pic>
        <p:nvPicPr>
          <p:cNvPr id="7" name="Picture 6">
            <a:extLst>
              <a:ext uri="{FF2B5EF4-FFF2-40B4-BE49-F238E27FC236}">
                <a16:creationId xmlns:a16="http://schemas.microsoft.com/office/drawing/2014/main" id="{83581AEA-0E68-4E3A-9DE0-5A8A6DA2CA21}"/>
              </a:ext>
            </a:extLst>
          </p:cNvPr>
          <p:cNvPicPr>
            <a:picLocks noChangeAspect="1"/>
          </p:cNvPicPr>
          <p:nvPr/>
        </p:nvPicPr>
        <p:blipFill>
          <a:blip r:embed="rId2"/>
          <a:stretch>
            <a:fillRect/>
          </a:stretch>
        </p:blipFill>
        <p:spPr>
          <a:xfrm>
            <a:off x="5843966" y="910053"/>
            <a:ext cx="6178145" cy="3693132"/>
          </a:xfrm>
          <a:prstGeom prst="rect">
            <a:avLst/>
          </a:prstGeom>
          <a:ln>
            <a:solidFill>
              <a:schemeClr val="tx1"/>
            </a:solidFill>
          </a:ln>
        </p:spPr>
      </p:pic>
    </p:spTree>
    <p:extLst>
      <p:ext uri="{BB962C8B-B14F-4D97-AF65-F5344CB8AC3E}">
        <p14:creationId xmlns:p14="http://schemas.microsoft.com/office/powerpoint/2010/main" val="354880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93EAA-6ADA-F9A5-05C0-1752BC07E447}"/>
              </a:ext>
            </a:extLst>
          </p:cNvPr>
          <p:cNvSpPr>
            <a:spLocks noGrp="1"/>
          </p:cNvSpPr>
          <p:nvPr>
            <p:ph type="title"/>
          </p:nvPr>
        </p:nvSpPr>
        <p:spPr/>
        <p:txBody>
          <a:bodyPr/>
          <a:lstStyle/>
          <a:p>
            <a:r>
              <a:rPr lang="en-US" dirty="0"/>
              <a:t>Model Performance</a:t>
            </a:r>
          </a:p>
        </p:txBody>
      </p:sp>
      <p:sp>
        <p:nvSpPr>
          <p:cNvPr id="3" name="Content Placeholder 2">
            <a:extLst>
              <a:ext uri="{FF2B5EF4-FFF2-40B4-BE49-F238E27FC236}">
                <a16:creationId xmlns:a16="http://schemas.microsoft.com/office/drawing/2014/main" id="{CBA19171-BDD3-C9BD-D561-B728E7EAB5E2}"/>
              </a:ext>
            </a:extLst>
          </p:cNvPr>
          <p:cNvSpPr>
            <a:spLocks noGrp="1"/>
          </p:cNvSpPr>
          <p:nvPr>
            <p:ph idx="1"/>
          </p:nvPr>
        </p:nvSpPr>
        <p:spPr>
          <a:xfrm>
            <a:off x="678884" y="1450223"/>
            <a:ext cx="6096670" cy="4398066"/>
          </a:xfrm>
        </p:spPr>
        <p:txBody>
          <a:bodyPr/>
          <a:lstStyle/>
          <a:p>
            <a:r>
              <a:rPr lang="en-US" dirty="0"/>
              <a:t>Key Metrics:</a:t>
            </a:r>
          </a:p>
          <a:p>
            <a:pPr lvl="1"/>
            <a:r>
              <a:rPr lang="en-US" dirty="0"/>
              <a:t>Accuracy: ~99%</a:t>
            </a:r>
          </a:p>
          <a:p>
            <a:pPr lvl="1"/>
            <a:r>
              <a:rPr lang="en-US" dirty="0"/>
              <a:t>Precision: High</a:t>
            </a:r>
          </a:p>
          <a:p>
            <a:pPr lvl="1"/>
            <a:r>
              <a:rPr lang="en-US" dirty="0"/>
              <a:t>Recall: High</a:t>
            </a:r>
          </a:p>
          <a:p>
            <a:pPr lvl="1"/>
            <a:r>
              <a:rPr lang="en-US" dirty="0"/>
              <a:t>ROC-AUC: Close to 1</a:t>
            </a:r>
          </a:p>
          <a:p>
            <a:r>
              <a:rPr lang="en-US" dirty="0"/>
              <a:t>The model successfully detects most fraud cases while keeping false alarms controlled.</a:t>
            </a:r>
          </a:p>
          <a:p>
            <a:endParaRPr lang="en-US" dirty="0"/>
          </a:p>
        </p:txBody>
      </p:sp>
      <p:pic>
        <p:nvPicPr>
          <p:cNvPr id="9" name="Picture 8">
            <a:extLst>
              <a:ext uri="{FF2B5EF4-FFF2-40B4-BE49-F238E27FC236}">
                <a16:creationId xmlns:a16="http://schemas.microsoft.com/office/drawing/2014/main" id="{2904A1B2-1095-FF89-E66C-CE5E0238C576}"/>
              </a:ext>
            </a:extLst>
          </p:cNvPr>
          <p:cNvPicPr>
            <a:picLocks noChangeAspect="1"/>
          </p:cNvPicPr>
          <p:nvPr/>
        </p:nvPicPr>
        <p:blipFill>
          <a:blip r:embed="rId2"/>
          <a:stretch>
            <a:fillRect/>
          </a:stretch>
        </p:blipFill>
        <p:spPr>
          <a:xfrm>
            <a:off x="6570950" y="799578"/>
            <a:ext cx="5406191" cy="4716802"/>
          </a:xfrm>
          <a:prstGeom prst="rect">
            <a:avLst/>
          </a:prstGeom>
          <a:ln>
            <a:solidFill>
              <a:schemeClr val="tx1"/>
            </a:solidFill>
          </a:ln>
        </p:spPr>
      </p:pic>
    </p:spTree>
    <p:extLst>
      <p:ext uri="{BB962C8B-B14F-4D97-AF65-F5344CB8AC3E}">
        <p14:creationId xmlns:p14="http://schemas.microsoft.com/office/powerpoint/2010/main" val="29291341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CE87C-91C1-2B87-E2D0-2A646D327578}"/>
              </a:ext>
            </a:extLst>
          </p:cNvPr>
          <p:cNvSpPr>
            <a:spLocks noGrp="1"/>
          </p:cNvSpPr>
          <p:nvPr>
            <p:ph type="title"/>
          </p:nvPr>
        </p:nvSpPr>
        <p:spPr/>
        <p:txBody>
          <a:bodyPr/>
          <a:lstStyle/>
          <a:p>
            <a:r>
              <a:rPr lang="en-US" dirty="0"/>
              <a:t>ROC &amp; PR Analysis</a:t>
            </a:r>
          </a:p>
        </p:txBody>
      </p:sp>
      <p:sp>
        <p:nvSpPr>
          <p:cNvPr id="4" name="Rectangle 1">
            <a:extLst>
              <a:ext uri="{FF2B5EF4-FFF2-40B4-BE49-F238E27FC236}">
                <a16:creationId xmlns:a16="http://schemas.microsoft.com/office/drawing/2014/main" id="{388ECE8C-611F-201E-5986-E138EF02BE9C}"/>
              </a:ext>
            </a:extLst>
          </p:cNvPr>
          <p:cNvSpPr>
            <a:spLocks noGrp="1" noChangeArrowheads="1"/>
          </p:cNvSpPr>
          <p:nvPr>
            <p:ph idx="1"/>
          </p:nvPr>
        </p:nvSpPr>
        <p:spPr bwMode="auto">
          <a:xfrm>
            <a:off x="678884" y="1368811"/>
            <a:ext cx="812034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ROC curve shows strong class separation.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Precision-Recall curve confirms stability under imbalanced data.</a:t>
            </a:r>
          </a:p>
        </p:txBody>
      </p:sp>
      <p:pic>
        <p:nvPicPr>
          <p:cNvPr id="6" name="Picture 5">
            <a:extLst>
              <a:ext uri="{FF2B5EF4-FFF2-40B4-BE49-F238E27FC236}">
                <a16:creationId xmlns:a16="http://schemas.microsoft.com/office/drawing/2014/main" id="{E1819218-131B-19C0-5C9F-E241A501B888}"/>
              </a:ext>
            </a:extLst>
          </p:cNvPr>
          <p:cNvPicPr>
            <a:picLocks noChangeAspect="1"/>
          </p:cNvPicPr>
          <p:nvPr/>
        </p:nvPicPr>
        <p:blipFill>
          <a:blip r:embed="rId2"/>
          <a:stretch>
            <a:fillRect/>
          </a:stretch>
        </p:blipFill>
        <p:spPr>
          <a:xfrm>
            <a:off x="869088" y="2015142"/>
            <a:ext cx="4877481" cy="4143953"/>
          </a:xfrm>
          <a:prstGeom prst="rect">
            <a:avLst/>
          </a:prstGeom>
          <a:ln>
            <a:solidFill>
              <a:schemeClr val="tx1"/>
            </a:solidFill>
          </a:ln>
        </p:spPr>
      </p:pic>
      <p:pic>
        <p:nvPicPr>
          <p:cNvPr id="8" name="Picture 7">
            <a:extLst>
              <a:ext uri="{FF2B5EF4-FFF2-40B4-BE49-F238E27FC236}">
                <a16:creationId xmlns:a16="http://schemas.microsoft.com/office/drawing/2014/main" id="{BD885442-504D-FEA8-67F2-75A6D41C4E11}"/>
              </a:ext>
            </a:extLst>
          </p:cNvPr>
          <p:cNvPicPr>
            <a:picLocks noChangeAspect="1"/>
          </p:cNvPicPr>
          <p:nvPr/>
        </p:nvPicPr>
        <p:blipFill>
          <a:blip r:embed="rId3"/>
          <a:stretch>
            <a:fillRect/>
          </a:stretch>
        </p:blipFill>
        <p:spPr>
          <a:xfrm>
            <a:off x="6096000" y="2015142"/>
            <a:ext cx="4744112" cy="4143953"/>
          </a:xfrm>
          <a:prstGeom prst="rect">
            <a:avLst/>
          </a:prstGeom>
          <a:ln>
            <a:solidFill>
              <a:schemeClr val="tx1"/>
            </a:solidFill>
          </a:ln>
        </p:spPr>
      </p:pic>
    </p:spTree>
    <p:extLst>
      <p:ext uri="{BB962C8B-B14F-4D97-AF65-F5344CB8AC3E}">
        <p14:creationId xmlns:p14="http://schemas.microsoft.com/office/powerpoint/2010/main" val="933583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36E43-42A4-6F8D-EA22-601EAC76E5F0}"/>
              </a:ext>
            </a:extLst>
          </p:cNvPr>
          <p:cNvSpPr>
            <a:spLocks noGrp="1"/>
          </p:cNvSpPr>
          <p:nvPr>
            <p:ph type="title"/>
          </p:nvPr>
        </p:nvSpPr>
        <p:spPr/>
        <p:txBody>
          <a:bodyPr/>
          <a:lstStyle/>
          <a:p>
            <a:r>
              <a:rPr lang="en-US" dirty="0"/>
              <a:t>Risk Scoring System</a:t>
            </a:r>
          </a:p>
        </p:txBody>
      </p:sp>
      <p:sp>
        <p:nvSpPr>
          <p:cNvPr id="3" name="Content Placeholder 2">
            <a:extLst>
              <a:ext uri="{FF2B5EF4-FFF2-40B4-BE49-F238E27FC236}">
                <a16:creationId xmlns:a16="http://schemas.microsoft.com/office/drawing/2014/main" id="{9790BFF1-E311-0FDE-FC41-CDA2F8E753AF}"/>
              </a:ext>
            </a:extLst>
          </p:cNvPr>
          <p:cNvSpPr>
            <a:spLocks noGrp="1"/>
          </p:cNvSpPr>
          <p:nvPr>
            <p:ph idx="1"/>
          </p:nvPr>
        </p:nvSpPr>
        <p:spPr>
          <a:xfrm>
            <a:off x="678882" y="1216441"/>
            <a:ext cx="10834234" cy="4398066"/>
          </a:xfrm>
        </p:spPr>
        <p:txBody>
          <a:bodyPr/>
          <a:lstStyle/>
          <a:p>
            <a:r>
              <a:rPr lang="en-US" dirty="0"/>
              <a:t>Instead of simple classification, the model assigns a fraud probability (0 to 1).</a:t>
            </a:r>
          </a:p>
          <a:p>
            <a:r>
              <a:rPr lang="en-US" dirty="0"/>
              <a:t>Risk Categories:</a:t>
            </a:r>
          </a:p>
          <a:p>
            <a:pPr lvl="2"/>
            <a:r>
              <a:rPr lang="en-US" dirty="0"/>
              <a:t>Low Risk (&lt; 0.30)</a:t>
            </a:r>
          </a:p>
          <a:p>
            <a:pPr lvl="2"/>
            <a:r>
              <a:rPr lang="en-US" dirty="0"/>
              <a:t>Medium Risk (0.30 – 0.60)</a:t>
            </a:r>
          </a:p>
          <a:p>
            <a:endParaRPr lang="en-US" dirty="0"/>
          </a:p>
        </p:txBody>
      </p:sp>
      <p:pic>
        <p:nvPicPr>
          <p:cNvPr id="7" name="Picture 6">
            <a:extLst>
              <a:ext uri="{FF2B5EF4-FFF2-40B4-BE49-F238E27FC236}">
                <a16:creationId xmlns:a16="http://schemas.microsoft.com/office/drawing/2014/main" id="{6D6AA872-00FE-3F65-A5CE-1CEE4FDF7100}"/>
              </a:ext>
            </a:extLst>
          </p:cNvPr>
          <p:cNvPicPr>
            <a:picLocks noChangeAspect="1"/>
          </p:cNvPicPr>
          <p:nvPr/>
        </p:nvPicPr>
        <p:blipFill>
          <a:blip r:embed="rId2"/>
          <a:stretch>
            <a:fillRect/>
          </a:stretch>
        </p:blipFill>
        <p:spPr>
          <a:xfrm>
            <a:off x="2628755" y="3277133"/>
            <a:ext cx="6724625" cy="2677398"/>
          </a:xfrm>
          <a:prstGeom prst="rect">
            <a:avLst/>
          </a:prstGeom>
          <a:ln>
            <a:solidFill>
              <a:schemeClr val="tx1"/>
            </a:solidFill>
          </a:ln>
        </p:spPr>
      </p:pic>
    </p:spTree>
    <p:extLst>
      <p:ext uri="{BB962C8B-B14F-4D97-AF65-F5344CB8AC3E}">
        <p14:creationId xmlns:p14="http://schemas.microsoft.com/office/powerpoint/2010/main" val="1877918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6D5FE-AE03-3D17-F001-3F4BE9E4119B}"/>
              </a:ext>
            </a:extLst>
          </p:cNvPr>
          <p:cNvSpPr>
            <a:spLocks noGrp="1"/>
          </p:cNvSpPr>
          <p:nvPr>
            <p:ph type="title"/>
          </p:nvPr>
        </p:nvSpPr>
        <p:spPr/>
        <p:txBody>
          <a:bodyPr/>
          <a:lstStyle/>
          <a:p>
            <a:r>
              <a:rPr lang="en-US" dirty="0"/>
              <a:t>Power BI Dashboard Overview</a:t>
            </a:r>
          </a:p>
        </p:txBody>
      </p:sp>
      <p:sp>
        <p:nvSpPr>
          <p:cNvPr id="3" name="Content Placeholder 2">
            <a:extLst>
              <a:ext uri="{FF2B5EF4-FFF2-40B4-BE49-F238E27FC236}">
                <a16:creationId xmlns:a16="http://schemas.microsoft.com/office/drawing/2014/main" id="{52400488-ACBA-7629-0077-24989E5BB8DE}"/>
              </a:ext>
            </a:extLst>
          </p:cNvPr>
          <p:cNvSpPr>
            <a:spLocks noGrp="1"/>
          </p:cNvSpPr>
          <p:nvPr>
            <p:ph idx="1"/>
          </p:nvPr>
        </p:nvSpPr>
        <p:spPr>
          <a:xfrm>
            <a:off x="678883" y="1405252"/>
            <a:ext cx="10834234" cy="4398066"/>
          </a:xfrm>
        </p:spPr>
        <p:txBody>
          <a:bodyPr/>
          <a:lstStyle/>
          <a:p>
            <a:r>
              <a:rPr lang="en-US" dirty="0"/>
              <a:t>Dashboard Pages:</a:t>
            </a:r>
          </a:p>
          <a:p>
            <a:pPr lvl="1"/>
            <a:r>
              <a:rPr lang="en-US" dirty="0"/>
              <a:t>Dataset Overview</a:t>
            </a:r>
          </a:p>
          <a:p>
            <a:pPr lvl="1"/>
            <a:r>
              <a:rPr lang="en-US" dirty="0"/>
              <a:t>Fraud Behavior Analysis</a:t>
            </a:r>
          </a:p>
          <a:p>
            <a:pPr lvl="1"/>
            <a:r>
              <a:rPr lang="en-US" dirty="0"/>
              <a:t>Model Performance</a:t>
            </a:r>
          </a:p>
          <a:p>
            <a:pPr lvl="1"/>
            <a:r>
              <a:rPr lang="en-US" dirty="0"/>
              <a:t>Business &amp; Financial Impact</a:t>
            </a:r>
          </a:p>
          <a:p>
            <a:r>
              <a:rPr lang="en-US" dirty="0"/>
              <a:t>The dashboard transforms model output into business insights.</a:t>
            </a:r>
          </a:p>
          <a:p>
            <a:endParaRPr lang="en-US" dirty="0"/>
          </a:p>
        </p:txBody>
      </p:sp>
    </p:spTree>
    <p:extLst>
      <p:ext uri="{BB962C8B-B14F-4D97-AF65-F5344CB8AC3E}">
        <p14:creationId xmlns:p14="http://schemas.microsoft.com/office/powerpoint/2010/main" val="3868108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016F640-B0A3-F2BD-58C2-F1D11ED800B2}"/>
              </a:ext>
            </a:extLst>
          </p:cNvPr>
          <p:cNvPicPr>
            <a:picLocks noChangeAspect="1"/>
          </p:cNvPicPr>
          <p:nvPr/>
        </p:nvPicPr>
        <p:blipFill>
          <a:blip r:embed="rId2"/>
          <a:stretch>
            <a:fillRect/>
          </a:stretch>
        </p:blipFill>
        <p:spPr>
          <a:xfrm>
            <a:off x="1216683" y="234729"/>
            <a:ext cx="9758634" cy="5886336"/>
          </a:xfrm>
          <a:prstGeom prst="rect">
            <a:avLst/>
          </a:prstGeom>
          <a:ln>
            <a:solidFill>
              <a:schemeClr val="tx1"/>
            </a:solidFill>
          </a:ln>
        </p:spPr>
      </p:pic>
    </p:spTree>
    <p:extLst>
      <p:ext uri="{BB962C8B-B14F-4D97-AF65-F5344CB8AC3E}">
        <p14:creationId xmlns:p14="http://schemas.microsoft.com/office/powerpoint/2010/main" val="40300481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FEC6027-477D-FECD-CF83-93070BA025E2}"/>
              </a:ext>
            </a:extLst>
          </p:cNvPr>
          <p:cNvPicPr>
            <a:picLocks noGrp="1" noChangeAspect="1"/>
          </p:cNvPicPr>
          <p:nvPr>
            <p:ph idx="1"/>
          </p:nvPr>
        </p:nvPicPr>
        <p:blipFill>
          <a:blip r:embed="rId2"/>
          <a:stretch>
            <a:fillRect/>
          </a:stretch>
        </p:blipFill>
        <p:spPr>
          <a:xfrm>
            <a:off x="1242643" y="404735"/>
            <a:ext cx="9706713" cy="5654050"/>
          </a:xfrm>
          <a:prstGeom prst="rect">
            <a:avLst/>
          </a:prstGeom>
          <a:ln>
            <a:solidFill>
              <a:schemeClr val="tx1"/>
            </a:solidFill>
          </a:ln>
        </p:spPr>
      </p:pic>
    </p:spTree>
    <p:extLst>
      <p:ext uri="{BB962C8B-B14F-4D97-AF65-F5344CB8AC3E}">
        <p14:creationId xmlns:p14="http://schemas.microsoft.com/office/powerpoint/2010/main" val="23009821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62B9C2F-5525-0FB1-CB31-ACB840A1D321}"/>
              </a:ext>
            </a:extLst>
          </p:cNvPr>
          <p:cNvPicPr>
            <a:picLocks noGrp="1" noChangeAspect="1"/>
          </p:cNvPicPr>
          <p:nvPr>
            <p:ph idx="1"/>
          </p:nvPr>
        </p:nvPicPr>
        <p:blipFill>
          <a:blip r:embed="rId2"/>
          <a:stretch>
            <a:fillRect/>
          </a:stretch>
        </p:blipFill>
        <p:spPr>
          <a:xfrm>
            <a:off x="1224585" y="224852"/>
            <a:ext cx="9456538" cy="5771214"/>
          </a:xfrm>
          <a:prstGeom prst="rect">
            <a:avLst/>
          </a:prstGeom>
        </p:spPr>
      </p:pic>
    </p:spTree>
    <p:extLst>
      <p:ext uri="{BB962C8B-B14F-4D97-AF65-F5344CB8AC3E}">
        <p14:creationId xmlns:p14="http://schemas.microsoft.com/office/powerpoint/2010/main" val="1666949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12ACD91-C04A-A416-D2FA-B59F42F6D389}"/>
              </a:ext>
            </a:extLst>
          </p:cNvPr>
          <p:cNvPicPr>
            <a:picLocks noGrp="1" noChangeAspect="1"/>
          </p:cNvPicPr>
          <p:nvPr>
            <p:ph idx="1"/>
          </p:nvPr>
        </p:nvPicPr>
        <p:blipFill>
          <a:blip r:embed="rId2"/>
          <a:stretch>
            <a:fillRect/>
          </a:stretch>
        </p:blipFill>
        <p:spPr>
          <a:xfrm>
            <a:off x="1311158" y="209863"/>
            <a:ext cx="9569684" cy="5743991"/>
          </a:xfrm>
          <a:prstGeom prst="rect">
            <a:avLst/>
          </a:prstGeom>
        </p:spPr>
      </p:pic>
    </p:spTree>
    <p:extLst>
      <p:ext uri="{BB962C8B-B14F-4D97-AF65-F5344CB8AC3E}">
        <p14:creationId xmlns:p14="http://schemas.microsoft.com/office/powerpoint/2010/main" val="3115384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CEC52-AA43-2724-15E7-666017B381AE}"/>
              </a:ext>
            </a:extLst>
          </p:cNvPr>
          <p:cNvSpPr>
            <a:spLocks noGrp="1"/>
          </p:cNvSpPr>
          <p:nvPr>
            <p:ph type="title"/>
          </p:nvPr>
        </p:nvSpPr>
        <p:spPr/>
        <p:txBody>
          <a:bodyPr/>
          <a:lstStyle/>
          <a:p>
            <a:r>
              <a:rPr lang="en-US" dirty="0"/>
              <a:t>Business Value</a:t>
            </a:r>
          </a:p>
        </p:txBody>
      </p:sp>
      <p:sp>
        <p:nvSpPr>
          <p:cNvPr id="3" name="Content Placeholder 2">
            <a:extLst>
              <a:ext uri="{FF2B5EF4-FFF2-40B4-BE49-F238E27FC236}">
                <a16:creationId xmlns:a16="http://schemas.microsoft.com/office/drawing/2014/main" id="{535F6445-AFA6-1DA7-A383-D06F8FAE1B0F}"/>
              </a:ext>
            </a:extLst>
          </p:cNvPr>
          <p:cNvSpPr>
            <a:spLocks noGrp="1"/>
          </p:cNvSpPr>
          <p:nvPr>
            <p:ph idx="1"/>
          </p:nvPr>
        </p:nvSpPr>
        <p:spPr>
          <a:xfrm>
            <a:off x="678882" y="1216441"/>
            <a:ext cx="10834234" cy="4398066"/>
          </a:xfrm>
        </p:spPr>
        <p:txBody>
          <a:bodyPr/>
          <a:lstStyle/>
          <a:p>
            <a:r>
              <a:rPr lang="en-US" dirty="0"/>
              <a:t>The model:</a:t>
            </a:r>
          </a:p>
          <a:p>
            <a:pPr lvl="1"/>
            <a:r>
              <a:rPr lang="en-US" dirty="0"/>
              <a:t>Reduces financial losses significantly.</a:t>
            </a:r>
          </a:p>
          <a:p>
            <a:pPr lvl="1"/>
            <a:r>
              <a:rPr lang="en-US" dirty="0"/>
              <a:t>Improves fraud detection accuracy.</a:t>
            </a:r>
          </a:p>
          <a:p>
            <a:pPr lvl="1"/>
            <a:r>
              <a:rPr lang="en-US" dirty="0"/>
              <a:t>Enables risk-based transaction monitoring.</a:t>
            </a:r>
          </a:p>
          <a:p>
            <a:pPr lvl="1"/>
            <a:r>
              <a:rPr lang="en-US" dirty="0"/>
              <a:t>Minimizes unnecessary transaction blocking.</a:t>
            </a:r>
          </a:p>
        </p:txBody>
      </p:sp>
    </p:spTree>
    <p:extLst>
      <p:ext uri="{BB962C8B-B14F-4D97-AF65-F5344CB8AC3E}">
        <p14:creationId xmlns:p14="http://schemas.microsoft.com/office/powerpoint/2010/main" val="2929938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071E3DF-F488-2041-A792-832FB099FD5A}"/>
              </a:ext>
            </a:extLst>
          </p:cNvPr>
          <p:cNvPicPr>
            <a:picLocks noGrp="1" noChangeAspect="1"/>
          </p:cNvPicPr>
          <p:nvPr>
            <p:ph idx="1"/>
          </p:nvPr>
        </p:nvPicPr>
        <p:blipFill>
          <a:blip r:embed="rId2"/>
          <a:stretch>
            <a:fillRect/>
          </a:stretch>
        </p:blipFill>
        <p:spPr>
          <a:xfrm>
            <a:off x="933404" y="119922"/>
            <a:ext cx="10325191" cy="5977163"/>
          </a:xfrm>
          <a:prstGeom prst="rect">
            <a:avLst/>
          </a:prstGeom>
          <a:ln>
            <a:solidFill>
              <a:schemeClr val="tx1"/>
            </a:solidFill>
          </a:ln>
        </p:spPr>
      </p:pic>
    </p:spTree>
    <p:extLst>
      <p:ext uri="{BB962C8B-B14F-4D97-AF65-F5344CB8AC3E}">
        <p14:creationId xmlns:p14="http://schemas.microsoft.com/office/powerpoint/2010/main" val="18679304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24C56-8242-246B-008E-134E020A4BB7}"/>
              </a:ext>
            </a:extLst>
          </p:cNvPr>
          <p:cNvSpPr>
            <a:spLocks noGrp="1"/>
          </p:cNvSpPr>
          <p:nvPr>
            <p:ph type="title"/>
          </p:nvPr>
        </p:nvSpPr>
        <p:spPr/>
        <p:txBody>
          <a:bodyPr/>
          <a:lstStyle/>
          <a:p>
            <a:r>
              <a:rPr lang="en-US" dirty="0"/>
              <a:t>Deployment</a:t>
            </a:r>
          </a:p>
        </p:txBody>
      </p:sp>
      <p:sp>
        <p:nvSpPr>
          <p:cNvPr id="3" name="Content Placeholder 2">
            <a:extLst>
              <a:ext uri="{FF2B5EF4-FFF2-40B4-BE49-F238E27FC236}">
                <a16:creationId xmlns:a16="http://schemas.microsoft.com/office/drawing/2014/main" id="{22A90B9E-6B7D-7DC9-A941-AA3912ACB5DC}"/>
              </a:ext>
            </a:extLst>
          </p:cNvPr>
          <p:cNvSpPr>
            <a:spLocks noGrp="1"/>
          </p:cNvSpPr>
          <p:nvPr>
            <p:ph idx="1"/>
          </p:nvPr>
        </p:nvSpPr>
        <p:spPr>
          <a:xfrm>
            <a:off x="543973" y="1229967"/>
            <a:ext cx="10834234" cy="4398066"/>
          </a:xfrm>
        </p:spPr>
        <p:txBody>
          <a:bodyPr/>
          <a:lstStyle/>
          <a:p>
            <a:r>
              <a:rPr lang="en-US" dirty="0"/>
              <a:t>The model was deployed using </a:t>
            </a:r>
            <a:r>
              <a:rPr lang="en-US" dirty="0" err="1"/>
              <a:t>Streamlit</a:t>
            </a:r>
            <a:r>
              <a:rPr lang="en-US" dirty="0"/>
              <a:t>.</a:t>
            </a:r>
          </a:p>
          <a:p>
            <a:r>
              <a:rPr lang="en-US" dirty="0"/>
              <a:t>Users can:</a:t>
            </a:r>
          </a:p>
          <a:p>
            <a:pPr lvl="2"/>
            <a:r>
              <a:rPr lang="en-US" dirty="0"/>
              <a:t>Enter transaction details</a:t>
            </a:r>
          </a:p>
          <a:p>
            <a:pPr lvl="2"/>
            <a:r>
              <a:rPr lang="en-US" dirty="0"/>
              <a:t>Get real-time fraud probability</a:t>
            </a:r>
          </a:p>
          <a:p>
            <a:pPr lvl="2"/>
            <a:r>
              <a:rPr lang="en-US" dirty="0"/>
              <a:t>View risk classification instantly</a:t>
            </a:r>
          </a:p>
          <a:p>
            <a:endParaRPr lang="en-US" dirty="0"/>
          </a:p>
        </p:txBody>
      </p:sp>
    </p:spTree>
    <p:extLst>
      <p:ext uri="{BB962C8B-B14F-4D97-AF65-F5344CB8AC3E}">
        <p14:creationId xmlns:p14="http://schemas.microsoft.com/office/powerpoint/2010/main" val="26264962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5DB3371-6B19-8714-02DD-95E2927B7330}"/>
              </a:ext>
            </a:extLst>
          </p:cNvPr>
          <p:cNvPicPr>
            <a:picLocks noGrp="1" noChangeAspect="1"/>
          </p:cNvPicPr>
          <p:nvPr>
            <p:ph idx="1"/>
          </p:nvPr>
        </p:nvPicPr>
        <p:blipFill>
          <a:blip r:embed="rId2"/>
          <a:stretch>
            <a:fillRect/>
          </a:stretch>
        </p:blipFill>
        <p:spPr>
          <a:xfrm>
            <a:off x="2289905" y="415639"/>
            <a:ext cx="6584272" cy="5523526"/>
          </a:xfrm>
          <a:prstGeom prst="rect">
            <a:avLst/>
          </a:prstGeom>
        </p:spPr>
      </p:pic>
    </p:spTree>
    <p:extLst>
      <p:ext uri="{BB962C8B-B14F-4D97-AF65-F5344CB8AC3E}">
        <p14:creationId xmlns:p14="http://schemas.microsoft.com/office/powerpoint/2010/main" val="24116279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047EF-CCD3-A3BC-B943-30CF18C9C0A6}"/>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EDB44298-FCF6-920A-3BC5-49C9C3A34C1D}"/>
              </a:ext>
            </a:extLst>
          </p:cNvPr>
          <p:cNvSpPr>
            <a:spLocks noGrp="1"/>
          </p:cNvSpPr>
          <p:nvPr>
            <p:ph idx="1"/>
          </p:nvPr>
        </p:nvSpPr>
        <p:spPr/>
        <p:txBody>
          <a:bodyPr/>
          <a:lstStyle/>
          <a:p>
            <a:r>
              <a:rPr lang="en-US" dirty="0"/>
              <a:t>The fraud detection system:</a:t>
            </a:r>
          </a:p>
          <a:p>
            <a:pPr lvl="2"/>
            <a:r>
              <a:rPr lang="en-US" dirty="0"/>
              <a:t>Accurately detects fraudulent transactions</a:t>
            </a:r>
          </a:p>
          <a:p>
            <a:pPr lvl="2"/>
            <a:r>
              <a:rPr lang="en-US" dirty="0"/>
              <a:t>Uses behavioral insights for prediction</a:t>
            </a:r>
          </a:p>
          <a:p>
            <a:pPr lvl="2"/>
            <a:r>
              <a:rPr lang="en-US" dirty="0"/>
              <a:t>Reduces financial risk</a:t>
            </a:r>
          </a:p>
          <a:p>
            <a:pPr lvl="2"/>
            <a:r>
              <a:rPr lang="en-US" dirty="0"/>
              <a:t>Provides real-time risk scoring</a:t>
            </a:r>
          </a:p>
          <a:p>
            <a:r>
              <a:rPr lang="en-US" dirty="0"/>
              <a:t>This project bridges technical modeling and business impact.</a:t>
            </a:r>
          </a:p>
          <a:p>
            <a:endParaRPr lang="en-US" dirty="0"/>
          </a:p>
        </p:txBody>
      </p:sp>
    </p:spTree>
    <p:extLst>
      <p:ext uri="{BB962C8B-B14F-4D97-AF65-F5344CB8AC3E}">
        <p14:creationId xmlns:p14="http://schemas.microsoft.com/office/powerpoint/2010/main" val="35569186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7010</TotalTime>
  <Words>432</Words>
  <Application>Microsoft Office PowerPoint</Application>
  <PresentationFormat>Widescreen</PresentationFormat>
  <Paragraphs>80</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BIA Template</vt:lpstr>
      <vt:lpstr>PowerPoint Presentation</vt:lpstr>
      <vt:lpstr>Agenda</vt:lpstr>
      <vt:lpstr>Dataset Overview</vt:lpstr>
      <vt:lpstr>Exploratory Data Analysis</vt:lpstr>
      <vt:lpstr>Feature Engineering</vt:lpstr>
      <vt:lpstr>Model Selection</vt:lpstr>
      <vt:lpstr>Model Performance</vt:lpstr>
      <vt:lpstr>ROC &amp; PR Analysis</vt:lpstr>
      <vt:lpstr>Risk Scoring System</vt:lpstr>
      <vt:lpstr>Power BI Dashboard Overview</vt:lpstr>
      <vt:lpstr>PowerPoint Presentation</vt:lpstr>
      <vt:lpstr>PowerPoint Presentation</vt:lpstr>
      <vt:lpstr>PowerPoint Presentation</vt:lpstr>
      <vt:lpstr>PowerPoint Presentation</vt:lpstr>
      <vt:lpstr>Business Value</vt:lpstr>
      <vt:lpstr>PowerPoint Presentation</vt:lpstr>
      <vt:lpstr>Deployment</vt:lpstr>
      <vt:lpstr>PowerPoint Presentation</vt:lpstr>
      <vt:lpstr>Conclusion</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deepanshu Gupta</cp:lastModifiedBy>
  <cp:revision>2257</cp:revision>
  <dcterms:created xsi:type="dcterms:W3CDTF">2020-12-23T13:36:00Z</dcterms:created>
  <dcterms:modified xsi:type="dcterms:W3CDTF">2026-02-19T19:23:17Z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